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105324fb844f1" /><Relationship Type="http://schemas.openxmlformats.org/officeDocument/2006/relationships/extended-properties" Target="/docProps/app.xml" Id="Rb5d90986ea234f90" /><Relationship Type="http://schemas.openxmlformats.org/officeDocument/2006/relationships/officeDocument" Target="/ppt/presentation.xml" Id="R3da890e86adb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d90e5809c4be2"/>
  </p:sldMasterIdLst>
  <p:notesMasterIdLst>
    <p:notesMasterId xmlns:r="http://schemas.openxmlformats.org/officeDocument/2006/relationships" r:id="Rf45f5dfb1f2949c8"/>
  </p:notesMasterIdLst>
  <p:sldIdLst>
    <p:sldId xmlns:r="http://schemas.openxmlformats.org/officeDocument/2006/relationships" id="256" r:id="Rd4e8888641844063"/>
    <p:sldId xmlns:r="http://schemas.openxmlformats.org/officeDocument/2006/relationships" id="257" r:id="R0e66a4176c4441c1"/>
    <p:sldId xmlns:r="http://schemas.openxmlformats.org/officeDocument/2006/relationships" id="258" r:id="Ra07867957ecd43ba"/>
    <p:sldId xmlns:r="http://schemas.openxmlformats.org/officeDocument/2006/relationships" id="259" r:id="R326f708af9c044df"/>
    <p:sldId xmlns:r="http://schemas.openxmlformats.org/officeDocument/2006/relationships" id="260" r:id="R8379e658478946f1"/>
    <p:sldId xmlns:r="http://schemas.openxmlformats.org/officeDocument/2006/relationships" id="261" r:id="Rafd5a1d93b4f4d1a"/>
    <p:sldId xmlns:r="http://schemas.openxmlformats.org/officeDocument/2006/relationships" id="262" r:id="Rbf9286cf966c4053"/>
    <p:sldId xmlns:r="http://schemas.openxmlformats.org/officeDocument/2006/relationships" id="263" r:id="R6ea48d3b7eec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4983a3166452f" /><Relationship Type="http://schemas.openxmlformats.org/officeDocument/2006/relationships/slideMaster" Target="/ppt/slideMasters/slideMaster1.xml" Id="R5efd90e5809c4be2" /><Relationship Type="http://schemas.openxmlformats.org/officeDocument/2006/relationships/notesMaster" Target="/ppt/notesMasters/notesMaster1.xml" Id="Rf45f5dfb1f2949c8" /><Relationship Type="http://schemas.openxmlformats.org/officeDocument/2006/relationships/presProps" Target="/ppt/presProps.xml" Id="R6ae9dce6e2ae4e59" /><Relationship Type="http://schemas.openxmlformats.org/officeDocument/2006/relationships/tableStyles" Target="/ppt/tableStyles.xml" Id="R09116930206547fa" /><Relationship Type="http://schemas.openxmlformats.org/officeDocument/2006/relationships/slide" Target="/ppt/slides/slide1.xml" Id="Rd4e8888641844063" /><Relationship Type="http://schemas.openxmlformats.org/officeDocument/2006/relationships/slide" Target="/ppt/slides/slide2.xml" Id="R0e66a4176c4441c1" /><Relationship Type="http://schemas.openxmlformats.org/officeDocument/2006/relationships/slide" Target="/ppt/slides/slide3.xml" Id="Ra07867957ecd43ba" /><Relationship Type="http://schemas.openxmlformats.org/officeDocument/2006/relationships/slide" Target="/ppt/slides/slide4.xml" Id="R326f708af9c044df" /><Relationship Type="http://schemas.openxmlformats.org/officeDocument/2006/relationships/slide" Target="/ppt/slides/slide5.xml" Id="R8379e658478946f1" /><Relationship Type="http://schemas.openxmlformats.org/officeDocument/2006/relationships/slide" Target="/ppt/slides/slide6.xml" Id="Rafd5a1d93b4f4d1a" /><Relationship Type="http://schemas.openxmlformats.org/officeDocument/2006/relationships/slide" Target="/ppt/slides/slide7.xml" Id="Rbf9286cf966c4053" /><Relationship Type="http://schemas.openxmlformats.org/officeDocument/2006/relationships/slide" Target="/ppt/slides/slide8.xml" Id="R6ea48d3b7eec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1793cb39e41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b3d5405fb4a8a" /><Relationship Type="http://schemas.openxmlformats.org/officeDocument/2006/relationships/notesMaster" Target="/ppt/notesMasters/notesMaster1.xml" Id="Rc56c73eeea9e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950deab144d40" /><Relationship Type="http://schemas.openxmlformats.org/officeDocument/2006/relationships/notesMaster" Target="/ppt/notesMasters/notesMaster1.xml" Id="R95d8a3d94c1642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bd5946f264503" /><Relationship Type="http://schemas.openxmlformats.org/officeDocument/2006/relationships/notesMaster" Target="/ppt/notesMasters/notesMaster1.xml" Id="R288e18a49792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6047cdabb41a4" /><Relationship Type="http://schemas.openxmlformats.org/officeDocument/2006/relationships/notesMaster" Target="/ppt/notesMasters/notesMaster1.xml" Id="R65335f31b64d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90535ac9814094" /><Relationship Type="http://schemas.openxmlformats.org/officeDocument/2006/relationships/notesMaster" Target="/ppt/notesMasters/notesMaster1.xml" Id="Rc8e610c628bb49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91f43ce949447f" /><Relationship Type="http://schemas.openxmlformats.org/officeDocument/2006/relationships/notesMaster" Target="/ppt/notesMasters/notesMaster1.xml" Id="R6cf628643d8a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1f7f40daa40d2" /><Relationship Type="http://schemas.openxmlformats.org/officeDocument/2006/relationships/notesMaster" Target="/ppt/notesMasters/notesMaster1.xml" Id="Re358b1f783d940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eeb2899fe44c23" /><Relationship Type="http://schemas.openxmlformats.org/officeDocument/2006/relationships/notesMaster" Target="/ppt/notesMasters/notesMaster1.xml" Id="R5928409f2273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60 segundos. Contextualizar P1, dificuldade de fechamento mensal descrita no registro do grupo. A foto comprova presença junto à fachada, não entrevista. Não atribuir os números da carga fictícia à operação real. Fontes: README, seção 1.1; levantamento/levantamento.md; foto original do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55 segundos. Explicar venda e recebimento. Quantidade e preço da venda pertencem a CONTÉM. Recebimentos possuem quantidade_recebida. Saldo materializado e auditado. A proposta não está homologada pela unidade. Fontes: README 1.1 e 1.5, RN10/RN11/RN24-RN28.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80 segundos. Abrir o diagrama completo do repositório. Este slide explica a associação N:M. PEDIDO_PRODUTO e ENTRADA_PRODUTO são tabelas lógicas, sem criar entidades artificiais no conceitual. Explicar 2FN com dependência do par e 3FN com dados do produto separados. Fontes: README 1.2 a 2; Modelo_Logico_WeCoffee.svg.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Abrir cliente mysql preparado e executar scripts em schema vazio conforme docs/execucao_mysql.md. Não executar sobre schema existente nem usar --force. Resultado_testes.txt serve de evidência se houver falha de ambiente na apresentação. Não se trata de desempenho de produção. Fontes: script.sql, testes_integridade.sql e resultado_testes.txt. Execução real em MySQL 8.4.13.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Demonstrar G01 e, se possível, G08. Há 98 pedidos quitados não cancelados no exemplo, R$4.261,00. Incluem quitados em preparo/prontos, por isso superam os 86 entregues. Não são vendas reais. Produtos e pagamentos são agregados separadamente para evitar duplicação. Estorno posterior pode alterar o relatório de mês anterior. Fonte: G01 executada em script.sql; README 1.6.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60 segundos. Executar A04 e mostrar bloqueio de preparo, depois A08, que deve retornar vazio. A04 contém uma ocorrência deliberada. Antes do preparo, cancelar recompõe unidades baixadas. Depois, retorno depende de confirmação física por item; estorno financeiro não movimenta estoque sozinho. Fontes: A04/A08 e testes T16 a T31; RN25-RN28.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45 segundos. Apresentar views e futura área analítica separada. Fatos de venda e recebimento têm granularidades diferentes. A previsão é uma possibilidade futura, não resultado entregue. Metas e utilidade devem ser validadas com o responsável. Fonte: README 1.6 e levantamento/levantamento.md.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40 segundos. Benefícios são os da proposta. Não declarar pronto para produção nem homologado. Pendências PV01-PV09: data/foto da entrevista, volumes, usuários GitHub, correção da E1, processos restantes, regras fiscais, perfis e metas. Todos presentes e aptos à defesa individual após o pitch. Tempo total planejado: 480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0d58d97484f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4e15e375448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a3926d0e646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fb81aa3c14e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fe736a5a841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c87343264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3ECDBC-F64C-4AA7-9E45-95C5597A9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D3E5D-922C-4741-8B68-B6C9895E6E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9AD25F-72F8-4E93-A681-55CD69A50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C0E3FD-A371-4342-88DA-ADAB47583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4FCDE1-8738-4C53-8A7C-9E49C4930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C25D65-D414-46F0-B439-ECDECB8DB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7569FB-1397-44DC-BBF9-06920FE3C8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8A1BE5-118D-48A8-AC8E-9BF361A3D4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78BE31-7675-41C3-9BC1-9A9660CA3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0EB11E-C12E-4378-ABED-FE4C146078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2cbaf7b6ca4378" /><Relationship Type="http://schemas.openxmlformats.org/officeDocument/2006/relationships/slideLayout" Target="/ppt/slideLayouts/slideLayout1.xml" Id="R1603669a56ac498e" /><Relationship Type="http://schemas.openxmlformats.org/officeDocument/2006/relationships/slideLayout" Target="/ppt/slideLayouts/slideLayout2.xml" Id="Rc9b18da6ce6a4e85" /><Relationship Type="http://schemas.openxmlformats.org/officeDocument/2006/relationships/slideLayout" Target="/ppt/slideLayouts/slideLayout3.xml" Id="Rdb0d387c03e5476f" /><Relationship Type="http://schemas.openxmlformats.org/officeDocument/2006/relationships/slideLayout" Target="/ppt/slideLayouts/slideLayout4.xml" Id="R930839541f904e37" /><Relationship Type="http://schemas.openxmlformats.org/officeDocument/2006/relationships/slideLayout" Target="/ppt/slideLayouts/slideLayout5.xml" Id="R60df9c34a82943a1" /><Relationship Type="http://schemas.openxmlformats.org/officeDocument/2006/relationships/slideLayout" Target="/ppt/slideLayouts/slideLayout6.xml" Id="Rd5869793d8da4e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3669a56ac498e"/>
    <p:sldLayoutId xmlns:r="http://schemas.openxmlformats.org/officeDocument/2006/relationships" id="2147483650" r:id="Rc9b18da6ce6a4e85"/>
    <p:sldLayoutId xmlns:r="http://schemas.openxmlformats.org/officeDocument/2006/relationships" id="2147483651" r:id="Rdb0d387c03e5476f"/>
    <p:sldLayoutId xmlns:r="http://schemas.openxmlformats.org/officeDocument/2006/relationships" id="2147483652" r:id="R930839541f904e37"/>
    <p:sldLayoutId xmlns:r="http://schemas.openxmlformats.org/officeDocument/2006/relationships" id="2147483653" r:id="R60df9c34a82943a1"/>
    <p:sldLayoutId xmlns:r="http://schemas.openxmlformats.org/officeDocument/2006/relationships" id="2147483654" r:id="Rd5869793d8da4e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4af169e1d41a5" /><Relationship Type="http://schemas.openxmlformats.org/officeDocument/2006/relationships/image" Target="/ppt/media/image.jpeg" Id="R140379fb72e642e7" /><Relationship Type="http://schemas.openxmlformats.org/officeDocument/2006/relationships/notesSlide" Target="/ppt/notesSlides/notesSlide1.xml" Id="R931c6fbd7fc4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914b95f164c24" /><Relationship Type="http://schemas.openxmlformats.org/officeDocument/2006/relationships/notesSlide" Target="/ppt/notesSlides/notesSlide2.xml" Id="R51be06517151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44d7e38884f1d" /><Relationship Type="http://schemas.openxmlformats.org/officeDocument/2006/relationships/notesSlide" Target="/ppt/notesSlides/notesSlide3.xml" Id="R7a1183982f864f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3593e93df4a2c" /><Relationship Type="http://schemas.openxmlformats.org/officeDocument/2006/relationships/notesSlide" Target="/ppt/notesSlides/notesSlide4.xml" Id="Red8fafc115c644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78b9c2c9e4b7a" /><Relationship Type="http://schemas.openxmlformats.org/officeDocument/2006/relationships/notesSlide" Target="/ppt/notesSlides/notesSlide5.xml" Id="R34d8fa15993e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7a3d812ac4b14" /><Relationship Type="http://schemas.openxmlformats.org/officeDocument/2006/relationships/notesSlide" Target="/ppt/notesSlides/notesSlide6.xml" Id="Rc19f21488d0d42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b384f333e4b0b" /><Relationship Type="http://schemas.openxmlformats.org/officeDocument/2006/relationships/notesSlide" Target="/ppt/notesSlides/notesSlide7.xml" Id="R2ca68a3cd83a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ec5a74bc84198" /><Relationship Type="http://schemas.openxmlformats.org/officeDocument/2006/relationships/notesSlide" Target="/ppt/notesSlides/notesSlide8.xml" Id="R73b99e32ef1347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6570-0F4D-4855-9B60-FBE4265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Fechamento mensal da 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CABE5-C661-4DFA-A040-BF81D6BA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We Coffee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D293-F437-4756-A2C5-2F969E7F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O levantamento registrado pelo grupo aponta dificuldade para consolidar as vendas do mês.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FFDB3-E88C-4481-A35E-031F5F6C9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379fb72e642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3340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11415-083F-47C0-B540-00A9951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007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Registro de presença na unidade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64A6D-42EE-4B12-A175-5FCB5D9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Data, participantes e comprovação da entrevista ainda pendentes.</a:t>
            </a:r>
          </a:p>
        </p:txBody>
      </p:sp>
    </p:spTree>
    <p:extLst>
      <p:ext uri="{BB962C8B-B14F-4D97-AF65-F5344CB8AC3E}">
        <p14:creationId xmlns:p14="http://schemas.microsoft.com/office/powerpoint/2010/main" val="766884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2B706-9932-48BE-AE46-FB68FFCA4F6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24750" y="47148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42989-1BAF-4169-9723-76E92294652B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524250" y="47148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DB3BA-D5D8-492B-8E28-C8543DDA8DA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24750" y="26670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54E2C-1AB4-4B2F-8003-9F081ADC840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524250" y="26670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58313-841C-44F9-82A9-C2852DA9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Solução proposta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13FB2-87DC-4D95-AC9F-1A77C822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Venda e pagamento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52B27-3A70-4EAE-B54A-6538F29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033F9-11B4-41D1-BF8A-0D7EFDB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372E3-7B78-42A9-BB26-CCD0E0D7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Origem e comanda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DBADB-034B-40F3-9E15-E2E883C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3C0F9-668E-4578-9C94-2B72D6B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CUPOM_FISCAL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5074E-E350-4572-8D86-EC8A775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Um por pedido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DB32C-3F04-473E-817C-2458A9A8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BFEDD-9276-4850-9CEE-F80E5EA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PAGAMENTO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99FAE-9BDE-49FC-AA82-D312820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Uma ou mais tentativas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D260D-6FB1-4321-A3BC-1C87190C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Recebimento e disponibilidade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611A-81A3-400B-AA1E-922471CE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593D4-C402-487F-9A0C-A8992C6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FORNECEDOR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FCD57-B55A-4F63-9F53-9AEF9A1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CNPJ cadastrado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2AE3D-E0BE-4C09-BC31-55360E95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3192F-39F5-440D-B8CF-1D4C677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338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ENTRADA_ESTOQUE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6918A-16F2-4BC0-9405-D610AF3D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101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Data e produtos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5EED1-DCD0-4D98-A095-5CFC9B1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E5CBA-40A6-407B-B4C4-D6798D9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338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B148B-9A6D-4407-B7C9-8073AB7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101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Saldo e mínimo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ABD67-B820-479D-9AC6-834F01A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Quitação faz baixa única. Retorno físico e estorno financeiro têm controles próprios.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D508E-F69A-4C5F-BB3C-BDB58D39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Estoque e recebimentos são proposta técnica a validar com a unidade.</a:t>
            </a:r>
          </a:p>
        </p:txBody>
      </p:sp>
    </p:spTree>
    <p:extLst>
      <p:ext uri="{BB962C8B-B14F-4D97-AF65-F5344CB8AC3E}">
        <p14:creationId xmlns:p14="http://schemas.microsoft.com/office/powerpoint/2010/main" val="165609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9B881-9BCD-4C46-9DA6-0EC15074A8D7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382000" y="3648075"/>
            <a:ext cx="762000" cy="138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F573A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56C55-5C80-433B-8B56-CCEAB656F2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24250" y="3648075"/>
            <a:ext cx="762000" cy="138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F573A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81816-C6AC-48FB-B68C-0F4E13F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Modelo lógico relacional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6499A-C7B3-4BC0-9553-F3A1870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Recorte da conversão de CONTÉM, com chave composta na associação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97949-9992-4CC1-A6E4-3147CF4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CEC1D-36E4-419D-A9B4-643B0355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91CEE-63B5-4167-8AE3-DD4A2CC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2609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id_pedido INT PK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data_hora DATETIME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1628-A891-49A1-85FB-157BF8F8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4095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616D0-5CC5-4232-B729-4F3BA86D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PEDIDO_PRODUTO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C9A51-EC3D-4702-A5A2-DCC30BB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7528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id_pedido INT PK, FK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id_produto INT PK, FK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quantidade INT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preco_unitario DECIMAL(10,2)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quantidade_devolvida 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11716-2413-49F5-876E-BDBC58B3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7C52B-F146-4BE1-802C-80ED15A5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8607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79531-CD1B-4A41-9BD3-FC7C784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62325"/>
            <a:ext cx="2228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id_produto INT PK</a:t>
            </a:r>
          </a:p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preco DECIMAL(10,2)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7A228-D8E7-42D4-B104-02E6FE84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Modelo completo: 10 tabelas, 44 colunas e 9 chaves estrangeiras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3B1D0-6118-4418-A823-A5405DC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O diagrama completo e o arquivo brModelo editável acompanham 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814601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4ED7-1C1C-4437-8DD1-B9CF92E6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Implementação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93F2E-4EA2-491C-89E1-8F914F63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Execução do script e dos testes no MySQL 8.4.13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79105-2272-4BD8-87EE-5CCAE1C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SOURCE docs/script.sql;</a:t>
            </a:r>
          </a:p>
          <a:p xmlns:a="http://schemas.openxmlformats.org/drawingml/2006/main">
            <a:pPr>
              <a:defRPr sz="217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SOURCE docs/testes_integridade.sql;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F76B9-2061-4861-9C81-EA1CD6EF11D7}"/>
              </a:ext>
            </a:extLst>
          </p:cNvPr>
          <p:cNvGraphicFramePr/>
          <p:nvPr/>
        </p:nvGraphicFramePr>
        <p:xfrm>
          <a:off xmlns:a="http://schemas.openxmlformats.org/drawingml/2006/main" x="6667500" y="2476500"/>
          <a:ext xmlns:a="http://schemas.openxmlformats.org/drawingml/2006/main" cx="4857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428875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Verificação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Tabelas / FKs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10 /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Pedidos fictícios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Testes de integridade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31 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F633E-8206-42E7-A94F-964F8E9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Demonstração ao vivo: banco vazio, criação, carga e conferência dos resultados.</a:t>
            </a:r>
          </a:p>
        </p:txBody>
      </p:sp>
    </p:spTree>
    <p:extLst>
      <p:ext uri="{BB962C8B-B14F-4D97-AF65-F5344CB8AC3E}">
        <p14:creationId xmlns:p14="http://schemas.microsoft.com/office/powerpoint/2010/main" val="154764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754C3-37DF-487B-BBA3-B42213B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Consultas gerenciais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8EA30-F2DD-46B6-B82D-463938F1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G01 conta cada pedido uma única vez no fechamento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86EF8-151D-49E5-A7F4-CDFCD01C8082}"/>
              </a:ext>
            </a:extLst>
          </p:cNvPr>
          <p:cNvGraphicFramePr/>
          <p:nvPr/>
        </p:nvGraphicFramePr>
        <p:xfrm>
          <a:off xmlns:a="http://schemas.openxmlformats.org/drawingml/2006/main" x="666750" y="2762250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Mês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Quitados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Vendas (R$)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(R$)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Jul/2026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1.437,00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43,55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Ago/2026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1.428,50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43,29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Set/2026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1.395,50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43,61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C5E5-E0F7-4078-A6A1-723EB092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Dados inteiramente fictícios. O relatório considera o estado atual por mês do pedido.</a:t>
            </a:r>
          </a:p>
        </p:txBody>
      </p:sp>
    </p:spTree>
    <p:extLst>
      <p:ext uri="{BB962C8B-B14F-4D97-AF65-F5344CB8AC3E}">
        <p14:creationId xmlns:p14="http://schemas.microsoft.com/office/powerpoint/2010/main" val="1248463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4028D-9A2B-40D3-8FD5-809E9700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Auditoria e estoque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DF65E-FD29-4B33-A9F0-6401E4E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A04 identifica o valor excedente antes do preparo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B8FB8-2C90-477C-8BED-227239FB1188}"/>
              </a:ext>
            </a:extLst>
          </p:cNvPr>
          <p:cNvGraphicFramePr/>
          <p:nvPr/>
        </p:nvGraphicFramePr>
        <p:xfrm>
          <a:off xmlns:a="http://schemas.openxmlformats.org/drawingml/2006/main" x="666750" y="2809875"/>
          <a:ext xmlns:a="http://schemas.openxmlformats.org/drawingml/2006/main" cx="108585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858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(R$)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Aprovado (R$)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Situação</a:t>
                      </a:r>
                    </a:p>
                  </a:txBody>
                  <a:tcPr marL="91440" marR="91440" marT="45720" marB="45720">
                    <a:solidFill>
                      <a:srgbClr val="7F573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47,00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47,01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352C26"/>
                          </a:solidFill>
                          <a:latin typeface="Arial"/>
                          <a:ea typeface="Arial"/>
                          <a:cs typeface="Arial"/>
                        </a:rPr>
                        <a:t>Divergência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69E35-758D-4A64-BCDA-1D7F8FBA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A08 confere o saldo com recebimentos, baixas e devoluções físicas.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2BAB6-E538-4180-85C9-03A6317D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A diferença de R$0,01 é intencional na massa fictícia para demonstrar a detecção.</a:t>
            </a:r>
          </a:p>
        </p:txBody>
      </p:sp>
    </p:spTree>
    <p:extLst>
      <p:ext uri="{BB962C8B-B14F-4D97-AF65-F5344CB8AC3E}">
        <p14:creationId xmlns:p14="http://schemas.microsoft.com/office/powerpoint/2010/main" val="993477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A36F-8131-4758-BCFA-4A5121BE5A5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24750" y="302418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D8F6-6260-4E6E-8484-7B6162CEE1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302418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573A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C4E41-6CEE-4836-9C46-2E60C0D7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Potencial para BI 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6C912-5EBC-43DB-A4EF-89386179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23D1-FAA5-458D-96A0-DBAAC9C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Banco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93C49-D907-474A-A862-AC6CAA2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Vendas e recebimentos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4C8AA-0D1A-4E88-8237-54EC76D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A74EC-68CF-44C2-907E-6A89059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193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Views de leitura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9AE46-AA04-42F4-BB86-4ADA81F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956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Totais sem duplicação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8AD2-F7BA-4708-BB62-42539CB4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57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D76C7-BF65-4F67-B4DA-57485FE2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193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Análise gerencial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22DF2-05FC-4FB3-83C4-C8B2B2A3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56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Vendas e reposição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3AF4A-A185-4169-BF1A-182DA977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Previsão de demanda exige histórico real autorizado e validação fora da amostra.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B2BB9-F267-41D4-B9FE-44E12A95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Não há modelo preditivo treinado. A massa pedagógica demonstra consultas, não capacidade de previsão.</a:t>
            </a:r>
          </a:p>
        </p:txBody>
      </p:sp>
    </p:spTree>
    <p:extLst>
      <p:ext uri="{BB962C8B-B14F-4D97-AF65-F5344CB8AC3E}">
        <p14:creationId xmlns:p14="http://schemas.microsoft.com/office/powerpoint/2010/main" val="1132608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68ED5-8CE7-4B5D-BC1F-927EEA5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Benefícios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90B37-5946-4EF1-B3D3-848ADD0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2C26"/>
                </a:solidFill>
                <a:latin typeface="Arial"/>
                <a:ea typeface="Arial"/>
                <a:cs typeface="Arial"/>
              </a:rPr>
              <a:t>Fechamento sem duplicar o total dos pedidos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7C4C-C8B7-4B3B-A91C-B7A14E7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352C2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52C26"/>
                </a:solidFill>
                <a:latin typeface="Arial"/>
                <a:ea typeface="Arial"/>
                <a:cs typeface="Arial"/>
              </a:rPr>
              <a:t>Pagamentos e disponibilidade com conferência de integridade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AA4C7-56E5-45E0-87F4-B2372CB1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65B5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65B51"/>
                </a:solidFill>
                <a:latin typeface="Arial"/>
                <a:ea typeface="Arial"/>
                <a:cs typeface="Arial"/>
              </a:rPr>
              <a:t>Homologação depende de confirmar entrevista, volumes, regras e cobertura dos processos com a unidade.</a:t>
            </a:r>
          </a:p>
        </p:txBody>
      </p:sp>
    </p:spTree>
    <p:extLst>
      <p:ext uri="{BB962C8B-B14F-4D97-AF65-F5344CB8AC3E}">
        <p14:creationId xmlns:p14="http://schemas.microsoft.com/office/powerpoint/2010/main" val="1408291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2026-10-27T20:12:01.0920000Z</dcterms:created>
  <dcterms:modified xsi:type="dcterms:W3CDTF">2026-10-27T20:12:01.0920000Z</dcterms:modified>
</coreProperties>
</file>